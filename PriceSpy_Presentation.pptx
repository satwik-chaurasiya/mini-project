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979FF"/>
                </a:solidFill>
              </a:defRPr>
            </a:pPr>
            <a:r>
              <a:t>ACADEMIC CAPSTONE PROJECT • AUGUST 2026</a:t>
            </a:r>
          </a:p>
          <a:p>
            <a:pPr>
              <a:spcBef>
                <a:spcPts val="1200"/>
              </a:spcBef>
              <a:defRPr sz="2800" b="1">
                <a:solidFill>
                  <a:srgbClr val="F0F6FC"/>
                </a:solidFill>
              </a:defRPr>
            </a:pPr>
            <a:r>
              <a:t>Predictive Analytics Framework for Forecasting Minimum Product Prices in E-Commerce</a:t>
            </a:r>
          </a:p>
          <a:p>
            <a:pPr>
              <a:spcBef>
                <a:spcPts val="800"/>
              </a:spcBef>
              <a:defRPr sz="1500">
                <a:solidFill>
                  <a:srgbClr val="00C853"/>
                </a:solidFill>
              </a:defRPr>
            </a:pPr>
            <a:r>
              <a:t>Platform: PriceSpy – Intelligent Lowest Price Prediction &amp; Automated Purchase Advisor</a:t>
            </a:r>
          </a:p>
          <a:p>
            <a:pPr>
              <a:spcBef>
                <a:spcPts val="2400"/>
              </a:spcBef>
              <a:defRPr sz="1200">
                <a:solidFill>
                  <a:srgbClr val="8B949E"/>
                </a:solidFill>
              </a:defRPr>
            </a:pPr>
            <a:r>
              <a:t>B.Tech – Artificial Intelligence (2nd Year)  |  Greater Noida Institute of Technology (GNIOT), AKTU</a:t>
            </a:r>
            <a:br/>
            <a:r>
              <a:t>Presenters: Team AI  |  Faculty Guide: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The Core Problem — Why Existing Tools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Retail Volatility &amp; Consumer Loss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Dynamic Pricing Algorithms: </a:t>
            </a:r>
            <a:r>
              <a:rPr>
                <a:solidFill>
                  <a:srgbClr val="8B949E"/>
                </a:solidFill>
              </a:rPr>
              <a:t>Retailers update listings multiple times daily based on real-time demand, competitor behavior, and stock levels.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The Post-Purchase Regret Gap: </a:t>
            </a:r>
            <a:r>
              <a:rPr>
                <a:solidFill>
                  <a:srgbClr val="8B949E"/>
                </a:solidFill>
              </a:rPr>
              <a:t>Shoppers frequently complete purchases days before major predictable discount cycles, losing 10% to 20% in savings.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Decision Fatigue: </a:t>
            </a:r>
            <a:r>
              <a:rPr>
                <a:solidFill>
                  <a:srgbClr val="8B949E"/>
                </a:solidFill>
              </a:rPr>
              <a:t>Buyers spend hours manually tracking price histories across multiple platforms without clear buying clarity.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Limitations of Existing Trackers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Strictly Reactive Tools: </a:t>
            </a:r>
            <a:r>
              <a:rPr>
                <a:solidFill>
                  <a:srgbClr val="8B949E"/>
                </a:solidFill>
              </a:rPr>
              <a:t>Platforms like Keepa and CamelCamelCamel document historical prices, forcing users to manually interpret dense graphs.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Zero Forward Visibility: </a:t>
            </a:r>
            <a:r>
              <a:rPr>
                <a:solidFill>
                  <a:srgbClr val="8B949E"/>
                </a:solidFill>
              </a:rPr>
              <a:t>No automated statistical forecast of whether prices will decline within 7, 15, or 30 days.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Project Objective: </a:t>
            </a:r>
            <a:r>
              <a:rPr>
                <a:solidFill>
                  <a:srgbClr val="8B949E"/>
                </a:solidFill>
              </a:rPr>
              <a:t>Shift retail price tracking from backward-looking charts to proactive, forward-looking minimum price forecasts.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Competitive Analysis — What We Do Differently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Standard Commercial Tools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Approach: </a:t>
            </a:r>
            <a:r>
              <a:rPr>
                <a:solidFill>
                  <a:srgbClr val="8B949E"/>
                </a:solidFill>
              </a:rPr>
              <a:t>Passive and reactive price charting.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Modeling: </a:t>
            </a:r>
            <a:r>
              <a:rPr>
                <a:solidFill>
                  <a:srgbClr val="8B949E"/>
                </a:solidFill>
              </a:rPr>
              <a:t>No predictive machine learning applied.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User Action: </a:t>
            </a:r>
            <a:r>
              <a:rPr>
                <a:solidFill>
                  <a:srgbClr val="8B949E"/>
                </a:solidFill>
              </a:rPr>
              <a:t>Forces users to analyze raw historical lines.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Limitation: </a:t>
            </a:r>
            <a:r>
              <a:rPr>
                <a:solidFill>
                  <a:srgbClr val="8B949E"/>
                </a:solidFill>
              </a:rPr>
              <a:t>Zero warning of upcoming promotional price drops.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Typical Student Projects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Approach: </a:t>
            </a:r>
            <a:r>
              <a:rPr>
                <a:solidFill>
                  <a:srgbClr val="8B949E"/>
                </a:solidFill>
              </a:rPr>
              <a:t>Simple cross-sectional web scrapers.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Modeling: </a:t>
            </a:r>
            <a:r>
              <a:rPr>
                <a:solidFill>
                  <a:srgbClr val="8B949E"/>
                </a:solidFill>
              </a:rPr>
              <a:t>Naive linear regression with high error rates.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Dataset: </a:t>
            </a:r>
            <a:r>
              <a:rPr>
                <a:solidFill>
                  <a:srgbClr val="8B949E"/>
                </a:solidFill>
              </a:rPr>
              <a:t>Static single-store scrapes without lag analysis.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Limitation: </a:t>
            </a:r>
            <a:r>
              <a:rPr>
                <a:solidFill>
                  <a:srgbClr val="8B949E"/>
                </a:solidFill>
              </a:rPr>
              <a:t>Fails to capture abrupt seasonal markdown shocks.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Our Solution (PriceSpy)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Multi-Horizon Forecasting: </a:t>
            </a:r>
            <a:r>
              <a:rPr>
                <a:solidFill>
                  <a:srgbClr val="8B949E"/>
                </a:solidFill>
              </a:rPr>
              <a:t>Outputs 7-day, 15-day, and 30-day predicted price points.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Hybrid ML Modeling: </a:t>
            </a:r>
            <a:r>
              <a:rPr>
                <a:solidFill>
                  <a:srgbClr val="8B949E"/>
                </a:solidFill>
              </a:rPr>
              <a:t>Combines Prophet seasonality, XGBoost lags, and LSTM sequences.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Visual Uncertainty: </a:t>
            </a:r>
            <a:r>
              <a:rPr>
                <a:solidFill>
                  <a:srgbClr val="8B949E"/>
                </a:solidFill>
              </a:rPr>
              <a:t>Renders shaded prediction confidence bands.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Actionable Guidance: </a:t>
            </a:r>
            <a:r>
              <a:rPr>
                <a:solidFill>
                  <a:srgbClr val="8B949E"/>
                </a:solidFill>
              </a:rPr>
              <a:t>Explicit WAIT vs. BUY NOW recommendations.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Predictive Alerting: </a:t>
            </a:r>
            <a:r>
              <a:rPr>
                <a:solidFill>
                  <a:srgbClr val="8B949E"/>
                </a:solidFill>
              </a:rPr>
              <a:t>Triggers alerts when future predicted lows hit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System Architecture &amp; High-Level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Data &amp; Backend Infrastructure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Live Scraping Engine: </a:t>
            </a:r>
            <a:r>
              <a:rPr>
                <a:solidFill>
                  <a:srgbClr val="8B949E"/>
                </a:solidFill>
              </a:rPr>
              <a:t>Automated harvesting on Amazon and Flipkart with rotated headers and proxy evasion.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FastAPI Microservices: </a:t>
            </a:r>
            <a:r>
              <a:rPr>
                <a:solidFill>
                  <a:srgbClr val="8B949E"/>
                </a:solidFill>
              </a:rPr>
              <a:t>High-throughput asynchronous REST API managing forecasts, alerts, and JWT authentication.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Database &amp; Caching: </a:t>
            </a:r>
            <a:r>
              <a:rPr>
                <a:solidFill>
                  <a:srgbClr val="8B949E"/>
                </a:solidFill>
              </a:rPr>
              <a:t>PostgreSQL database models coupled with Redis for rapid retrieval of pre-computed price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ML Engine &amp; Frontend Layer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Batch Prediction Pipeline: </a:t>
            </a:r>
            <a:r>
              <a:rPr>
                <a:solidFill>
                  <a:srgbClr val="8B949E"/>
                </a:solidFill>
              </a:rPr>
              <a:t>Daily automated cron scheduler pre-computes 30-day forecasting trajectories overnight.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React 18 Single-Page App: </a:t>
            </a:r>
            <a:r>
              <a:rPr>
                <a:solidFill>
                  <a:srgbClr val="8B949E"/>
                </a:solidFill>
              </a:rPr>
              <a:t>Modern dark-themed UI built with Tailwind CSS and responsive layout grids.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Recharts Visualizer: </a:t>
            </a:r>
            <a:r>
              <a:rPr>
                <a:solidFill>
                  <a:srgbClr val="8B949E"/>
                </a:solidFill>
              </a:rPr>
              <a:t>Continuous curves transitioning from actual records to shaded forecast confidence bands.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Data Preprocessing &amp;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Data Cleaning &amp; Transformation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Multi-Store Ingestion: </a:t>
            </a:r>
            <a:r>
              <a:rPr>
                <a:solidFill>
                  <a:srgbClr val="8B949E"/>
                </a:solidFill>
              </a:rPr>
              <a:t>Normalizes disparate price schemas, product identifiers, and currency formats.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Imputation &amp; Cleansing: </a:t>
            </a:r>
            <a:r>
              <a:rPr>
                <a:solidFill>
                  <a:srgbClr val="8B949E"/>
                </a:solidFill>
              </a:rPr>
              <a:t>Forward-filling for missing data gaps and IQR-based filtering for scraping anomalies.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Temporal Alignment: </a:t>
            </a:r>
            <a:r>
              <a:rPr>
                <a:solidFill>
                  <a:srgbClr val="8B949E"/>
                </a:solidFill>
              </a:rPr>
              <a:t>Synchronizes irregularly sampled price updates into uniform daily time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Domain-Specific Feature Signals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Rolling Indicators: </a:t>
            </a:r>
            <a:r>
              <a:rPr>
                <a:solidFill>
                  <a:srgbClr val="8B949E"/>
                </a:solidFill>
              </a:rPr>
              <a:t>Calculates 7-day, 14-day, and 30-day rolling averages and price volatility standard deviations.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Calendar Seasonality: </a:t>
            </a:r>
            <a:r>
              <a:rPr>
                <a:solidFill>
                  <a:srgbClr val="8B949E"/>
                </a:solidFill>
              </a:rPr>
              <a:t>Encodes day-of-week, day-of-month, and quarterly cyclical factors.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Promotional Decay Vectors: </a:t>
            </a:r>
            <a:r>
              <a:rPr>
                <a:solidFill>
                  <a:srgbClr val="8B949E"/>
                </a:solidFill>
              </a:rPr>
              <a:t>Explicit exponential proximity flags for major shopping festivals (e.g., Prime Day, Diwali Sales).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Machine Learning Modeling &amp; Ensembling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Facebook Prophet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Role: </a:t>
            </a:r>
            <a:r>
              <a:rPr>
                <a:solidFill>
                  <a:srgbClr val="8B949E"/>
                </a:solidFill>
              </a:rPr>
              <a:t>Decomposes trend and multi-period seasonality.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Strengths: </a:t>
            </a:r>
            <a:r>
              <a:rPr>
                <a:solidFill>
                  <a:srgbClr val="8B949E"/>
                </a:solidFill>
              </a:rPr>
              <a:t>Robust to missing observation days and holidays.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Output: </a:t>
            </a:r>
            <a:r>
              <a:rPr>
                <a:solidFill>
                  <a:srgbClr val="8B949E"/>
                </a:solidFill>
              </a:rPr>
              <a:t>Provides base additive trajectories and confidence intervals.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XGBoost Regressor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Role: </a:t>
            </a:r>
            <a:r>
              <a:rPr>
                <a:solidFill>
                  <a:srgbClr val="8B949E"/>
                </a:solidFill>
              </a:rPr>
              <a:t>Models non-linear price volatility and short-term lags.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Strengths: </a:t>
            </a:r>
            <a:r>
              <a:rPr>
                <a:solidFill>
                  <a:srgbClr val="8B949E"/>
                </a:solidFill>
              </a:rPr>
              <a:t>Captures abrupt markdown thresholds and flash sales.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Output: </a:t>
            </a:r>
            <a:r>
              <a:rPr>
                <a:solidFill>
                  <a:srgbClr val="8B949E"/>
                </a:solidFill>
              </a:rPr>
              <a:t>Residual corrections on Prophet baseline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LSTM Sequence Networks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Role: </a:t>
            </a:r>
            <a:r>
              <a:rPr>
                <a:solidFill>
                  <a:srgbClr val="8B949E"/>
                </a:solidFill>
              </a:rPr>
              <a:t>Captures long-term sequential temporal dependencies.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Ensemble Strategy: </a:t>
            </a:r>
            <a:r>
              <a:rPr>
                <a:solidFill>
                  <a:srgbClr val="8B949E"/>
                </a:solidFill>
              </a:rPr>
              <a:t>Weighted averaging minimizes variance across distinct market regimes.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Confidence Scoring: </a:t>
            </a:r>
            <a:r>
              <a:rPr>
                <a:solidFill>
                  <a:srgbClr val="8B949E"/>
                </a:solidFill>
              </a:rPr>
              <a:t>Computes certainty scores (70% - 90%) from prediction interval spreads.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Experimental Results &amp; Validation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Validation Methodology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Backtesting Scheme: </a:t>
            </a:r>
            <a:r>
              <a:rPr>
                <a:solidFill>
                  <a:srgbClr val="8B949E"/>
                </a:solidFill>
              </a:rPr>
              <a:t>Chronological rolling-window validation across unseen historical test sets.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Mean Absolute Error (MAE): </a:t>
            </a:r>
            <a:r>
              <a:rPr>
                <a:solidFill>
                  <a:srgbClr val="8B949E"/>
                </a:solidFill>
              </a:rPr>
              <a:t>Measures average magnitude of absolute prediction errors in currency units.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Root Mean Squared Error (RMSE): </a:t>
            </a:r>
            <a:r>
              <a:rPr>
                <a:solidFill>
                  <a:srgbClr val="8B949E"/>
                </a:solidFill>
              </a:rPr>
              <a:t>Penalizes large outlier forecast errors heavily.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MAPE Evaluation: </a:t>
            </a:r>
            <a:r>
              <a:rPr>
                <a:solidFill>
                  <a:srgbClr val="8B949E"/>
                </a:solidFill>
              </a:rPr>
              <a:t>Normalized percentage metric measuring overall error across varied price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Performance Benchmark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Project Baseline Goal: </a:t>
            </a:r>
            <a:r>
              <a:rPr>
                <a:solidFill>
                  <a:srgbClr val="8B949E"/>
                </a:solidFill>
              </a:rPr>
              <a:t>Forecast accuracy &gt;= 82% (MAPE &lt;= 18%).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Prophet Baseline: </a:t>
            </a:r>
            <a:r>
              <a:rPr>
                <a:solidFill>
                  <a:srgbClr val="8B949E"/>
                </a:solidFill>
              </a:rPr>
              <a:t>MAPE: ~3.8%  |  Accuracy: ~83.2%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Ensemble Pipeline: </a:t>
            </a:r>
            <a:r>
              <a:rPr>
                <a:solidFill>
                  <a:srgbClr val="8B949E"/>
                </a:solidFill>
              </a:rPr>
              <a:t>MAPE: 2.8% - 3.1%  |  Accuracy: 84.2% - 87.3%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Practical Meaning: </a:t>
            </a:r>
            <a:r>
              <a:rPr>
                <a:solidFill>
                  <a:srgbClr val="8B949E"/>
                </a:solidFill>
              </a:rPr>
              <a:t>On an item worth ₹10,000, model error is within ~₹300, delivering reliable consumer purchase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Full-Stack Web Application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Core Consumer Features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Real-Time Search: </a:t>
            </a:r>
            <a:r>
              <a:rPr>
                <a:solidFill>
                  <a:srgbClr val="8B949E"/>
                </a:solidFill>
              </a:rPr>
              <a:t>Searches any e-commerce product with live web scraping and fallback synthesis.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Interactive Visualizer: </a:t>
            </a:r>
            <a:r>
              <a:rPr>
                <a:solidFill>
                  <a:srgbClr val="8B949E"/>
                </a:solidFill>
              </a:rPr>
              <a:t>Continuous chart displaying historical prices and shaded future forecast bands.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Actionable Verdicts: </a:t>
            </a:r>
            <a:r>
              <a:rPr>
                <a:solidFill>
                  <a:srgbClr val="8B949E"/>
                </a:solidFill>
              </a:rPr>
              <a:t>Color-coded badges (e.g., WAIT - drop of 10% expected in 15 days).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Automated Alerting: </a:t>
            </a:r>
            <a:r>
              <a:rPr>
                <a:solidFill>
                  <a:srgbClr val="8B949E"/>
                </a:solidFill>
              </a:rPr>
              <a:t>Registers target prices and sends simulated email drop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Administrative &amp; User Dashboards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Personalized Watchlist: </a:t>
            </a:r>
            <a:r>
              <a:rPr>
                <a:solidFill>
                  <a:srgbClr val="8B949E"/>
                </a:solidFill>
              </a:rPr>
              <a:t>Tracks multi-product portfolios with live progress toward predicted lowest prices.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Scraper Engine Health: </a:t>
            </a:r>
            <a:r>
              <a:rPr>
                <a:solidFill>
                  <a:srgbClr val="8B949E"/>
                </a:solidFill>
              </a:rPr>
              <a:t>Monitors live harvest statuses for Amazon, Flipkart, Walmart, and eBay.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Model Registry &amp; Telemetry: </a:t>
            </a:r>
            <a:r>
              <a:rPr>
                <a:solidFill>
                  <a:srgbClr val="8B949E"/>
                </a:solidFill>
              </a:rPr>
              <a:t>Real-time tracking of active model versions, MAE logs, and retrain triggers.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Division of Work — Team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Track 1: ML &amp; Data Engineering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Scraper Pipeline: </a:t>
            </a:r>
            <a:r>
              <a:rPr>
                <a:solidFill>
                  <a:srgbClr val="8B949E"/>
                </a:solidFill>
              </a:rPr>
              <a:t>Implemented live retail scrapers and synthetic data generator.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Model Development: </a:t>
            </a:r>
            <a:r>
              <a:rPr>
                <a:solidFill>
                  <a:srgbClr val="8B949E"/>
                </a:solidFill>
              </a:rPr>
              <a:t>Trained, tuned, and evaluated Prophet, XGBoost, and LSTM ensemble models.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Backtesting Suite: </a:t>
            </a:r>
            <a:r>
              <a:rPr>
                <a:solidFill>
                  <a:srgbClr val="8B949E"/>
                </a:solidFill>
              </a:rPr>
              <a:t>Built model evaluation pipeline computing MAE, RMSE, and MAPE metrics.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Batch Automation: </a:t>
            </a:r>
            <a:r>
              <a:rPr>
                <a:solidFill>
                  <a:srgbClr val="8B949E"/>
                </a:solidFill>
              </a:rPr>
              <a:t>Configured cron batch inference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Track 2: Backend &amp; UI/UX Engineering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FastAPI Architecture: </a:t>
            </a:r>
            <a:r>
              <a:rPr>
                <a:solidFill>
                  <a:srgbClr val="8B949E"/>
                </a:solidFill>
              </a:rPr>
              <a:t>Built RESTful endpoints, CORS middleware, and mock database models.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Authentication &amp; Security: </a:t>
            </a:r>
            <a:r>
              <a:rPr>
                <a:solidFill>
                  <a:srgbClr val="8B949E"/>
                </a:solidFill>
              </a:rPr>
              <a:t>Implemented user registration, login, and JWT access tokens.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Frontend UI/UX: </a:t>
            </a:r>
            <a:r>
              <a:rPr>
                <a:solidFill>
                  <a:srgbClr val="8B949E"/>
                </a:solidFill>
              </a:rPr>
              <a:t>Engineered React 18 single-page app with Tailwind dark theme and Recharts graphs.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Alert Dispatcher: </a:t>
            </a:r>
            <a:r>
              <a:rPr>
                <a:solidFill>
                  <a:srgbClr val="8B949E"/>
                </a:solidFill>
              </a:rPr>
              <a:t>Developed target price matching engine and alert notification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979FF"/>
                </a:solidFill>
              </a:defRPr>
            </a:pPr>
            <a:r>
              <a:t>PRICESPY • AI PREDICTIVE FRAMEWORK</a:t>
            </a:r>
          </a:p>
          <a:p>
            <a:pPr>
              <a:defRPr sz="2200" b="1">
                <a:solidFill>
                  <a:srgbClr val="F0F6FC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Summary of Achievements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End-to-End System: </a:t>
            </a:r>
            <a:r>
              <a:rPr>
                <a:solidFill>
                  <a:srgbClr val="8B949E"/>
                </a:solidFill>
              </a:rPr>
              <a:t>Successfully transformed reactive price tracking into a proactive forecasting engine.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High Forecast Accuracy: </a:t>
            </a:r>
            <a:r>
              <a:rPr>
                <a:solidFill>
                  <a:srgbClr val="8B949E"/>
                </a:solidFill>
              </a:rPr>
              <a:t>Achieved &lt; 3.1% MAPE error across retail product time-series.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Seamless Full-Stack UX: </a:t>
            </a:r>
            <a:r>
              <a:rPr>
                <a:solidFill>
                  <a:srgbClr val="8B949E"/>
                </a:solidFill>
              </a:rPr>
              <a:t>Delivered responsive web dashboards, real-time scraping, and predictive alerting.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979FF"/>
                </a:solidFill>
              </a:defRPr>
            </a:pPr>
            <a:r>
              <a:t>Future Enhancements (Phase 2)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Browser Extension: </a:t>
            </a:r>
            <a:r>
              <a:rPr>
                <a:solidFill>
                  <a:srgbClr val="8B949E"/>
                </a:solidFill>
              </a:rPr>
              <a:t>Chrome/Edge overlay delivering instant buy/wait recommendations directly on product pages.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Cross-Retailer Arbitrage: </a:t>
            </a:r>
            <a:r>
              <a:rPr>
                <a:solidFill>
                  <a:srgbClr val="8B949E"/>
                </a:solidFill>
              </a:rPr>
              <a:t>Real-time comparative matrices highlighting instant cross-platform savings.</a:t>
            </a:r>
          </a:p>
          <a:p>
            <a:pPr>
              <a:spcBef>
                <a:spcPts val="800"/>
              </a:spcBef>
              <a:defRPr sz="1150"/>
            </a:pPr>
            <a:r>
              <a:rPr b="1">
                <a:solidFill>
                  <a:srgbClr val="F0F6FC"/>
                </a:solidFill>
              </a:rPr>
              <a:t>• Coupon Integration: </a:t>
            </a:r>
            <a:r>
              <a:rPr>
                <a:solidFill>
                  <a:srgbClr val="8B949E"/>
                </a:solidFill>
              </a:rPr>
              <a:t>Layering bank discount offers and promo codes into predicted price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