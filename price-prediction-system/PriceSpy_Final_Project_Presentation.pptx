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&amp; INTRODUCTION (Slide 1):</a:t>
            </a:r>
          </a:p>
          <a:p>
            <a:r>
              <a:t>- Respected professors and external judges, good morning.</a:t>
            </a:r>
          </a:p>
          <a:p>
            <a:r>
              <a:t>- Today, I am proud to present 'PriceSpy', an end-to-end AI-powered e-commerce price prediction and multi-store retail intelligence system.</a:t>
            </a:r>
          </a:p>
          <a:p>
            <a:r>
              <a:t>- PriceSpy aggregates 4 major stores in real time and forecasts price trajectories over 30 days using Facebook Prophet machine learning to deliver a definitive 'BUY NOW' or 'WAIT'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0D12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48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FINAL YEAR ACADEMIC PROJECT DEFENSE</a:t>
            </a:r>
          </a:p>
          <a:p>
            <a:pPr algn="ctr">
              <a:defRPr sz="5000" b="1">
                <a:solidFill>
                  <a:srgbClr val="38BDF8"/>
                </a:solidFill>
              </a:defRPr>
            </a:pPr>
            <a:r>
              <a:t>PriceSpy</a:t>
            </a:r>
          </a:p>
          <a:p>
            <a:pPr algn="ctr">
              <a:defRPr sz="2000" b="1">
                <a:solidFill>
                  <a:srgbClr val="F8FAFC"/>
                </a:solidFill>
              </a:defRPr>
            </a:pPr>
            <a:r>
              <a:t>AI-Powered E-Commerce Price Prediction &amp; Multi-Store Retail Intelligence System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Solving Consumer Price Discrimination via Time-Series Forecasting &amp; Real-Time Multi-Store Arbitrage</a:t>
            </a:r>
          </a:p>
          <a:p>
            <a:pPr algn="ctr">
              <a:defRPr sz="1300" b="1">
                <a:solidFill>
                  <a:srgbClr val="38BDF8"/>
                </a:solidFill>
              </a:defRPr>
            </a:pPr>
            <a:br/>
            <a:r>
              <a:t>[ Python 3.14 ]  •  [ FastAPI ]  •  [ Facebook Prophet v3.2 ]  •  [ React 19 ]  •  [ SQLite WAL ]  •  [ Docker ]</a:t>
            </a:r>
          </a:p>
          <a:p>
            <a:pPr algn="ctr">
              <a:defRPr sz="1300">
                <a:solidFill>
                  <a:srgbClr val="F8FAFC"/>
                </a:solidFill>
              </a:defRPr>
            </a:pPr>
            <a:br/>
            <a:r>
              <a:t>Presented in Front of College Faculty Evaluators &amp; Project Review Panel</a:t>
            </a:r>
            <a:br/>
            <a:r>
              <a:t>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EXECUTIVE SUMMARY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Why PriceSpy? The Core Motivation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Eliminating buyer regret and dynamic price exploitation in online retail.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CONSUMER PAIN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Dynamic Price Shocks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E-commerce platforms dynamically reprice goods up to millions of times daily.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Consumers experience buyer's remorse when a product drops ₹4,000 days after purchase.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Information asymmetry prevents consumers from knowing if a 'sale' is a genuine discount.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THE SOLUTION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Google Flights for Shopping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1-Click concurrent price comparison across Amazon, Flipkart, Walmart, and eBay.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Time-Series Prophet ML modeling predicting 7d, 15d, and 30d future prices.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Algorithmic decision matrix providing an explicit BUY NOW vs. WAIT recommendation.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INNOVATION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Predictive vs. Rearview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Existing tools (Keepa, CamelCamelCamel) only display past historical charts.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PriceSpy forecasts future trajectory with 89.92% verified benchmark accuracy.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Embedded festival calendar accounts for Big Billion Days, Prime Day &amp; Diwali sales.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PROBLEM FORMULATION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The Dynamic Pricing Trap in E-Commerce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Algorithmic repricing algorithms leave consumers at a major disadvantage.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LIMITATIONS OF CURRENT MARKETPLACE TOOLS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Why Existing Trackers Fall Short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❌ No Predictive Intelligence: Existing tools only graph what happened in the past. They cannot project future discount dips.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❌ Siloed Ecosystems: A buyer must check Amazon tracker, Flipkart tracker, Walmart, and eBay individually across different tabs.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❌ Failure on Retail Shocks: Standard linear models assume prices are steady, completely failing during sudden festival drops like Big Billion Days.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❌ No Actionable Verdict: Users are left to guess whether today's price is good or if waiting 10 days will save them ₹5,000.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THE PRICESPY PARADIGM SHIFT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What PriceSpy Delivers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⚡ Multi-Store Arbitrage: Simultaneously harvest live quotes across Amazon, Flipkart, Walmart, and eBay in one consolidated view.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⚡ Decomposable ML Forecasting: Facebook Prophet v3.2 models annual festival shocks and payday harmonics with 89.92% accuracy.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⚡ Uncertainty Intervals: Bayesian posterior ribbons provide 80% confidence boundaries so users see best and worst-case scenarios.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⚡ 24/7 Autonomous Watchdog: Background daemon checks active targets every 24h and emails users the moment target threshold is achieved.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SYSTEM ARCHITECTURE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Four-Tier Decoupled System Architecture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High-performance modular architecture containerized with Docker.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66344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LAYER 1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Client Layer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React 19 SPA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Tailwind CSS Dark OLED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Recharts AreaChart Bands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Lucide UI Icon System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Sub-50ms Client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468880" cy="466344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LAYER 2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API Gateway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FastAPI (Async)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Asynchronous REST Endpoints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Pydantic v2 Serialization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Bcrypt + JWT Security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Auto OpenAPI Swagger Docs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468880" cy="466344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LAYER 3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ML Engine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Prophet v3.2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Multiplicative Seasonality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7d / 15d / 30d Horizons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Festival Calendar Rails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Payday Fourier Harmonics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468880" cy="466344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LAYER 4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Storage &amp; Daemons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SQLite WAL &amp; Cron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SQLite Write-Ahead Logging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24/7 Alert Dispatcher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Concurrent Scraper Rails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Docker Compose Network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MACHINE LEARNING ENGINE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Predictive Modeling: Facebook Prophet v3.2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Decomposing retail time-series into trend, seasonality, and festival shocks.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MATHEMATICAL FORMULATION</a:t>
            </a:r>
          </a:p>
          <a:p>
            <a:pPr>
              <a:defRPr sz="2000" b="1">
                <a:solidFill>
                  <a:srgbClr val="10B981"/>
                </a:solidFill>
              </a:defRPr>
            </a:pPr>
            <a:r>
              <a:t>y(t) = g(t) × (1 + s(t)) + h(t) + εₜ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g(t) — Growth Trend: Piecewise linear curve modeling gradual hardware depreciation over time, with changepoint prior scale = 0.18 for sudden promotional flexibility.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s(t) — Multiplicative Seasonality: Multiplies trend rather than adding flat rupees. Accompanied by monthly Fourier harmonics (order 5, period 30.5d) for month-end payday sales.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h(t) — Shopping Festival Events: Custom retail holiday window engine modeling Amazon Great Indian Festival, Flipkart Big Billion Days, Prime Day, Republic Day, and Black Friday.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εₜ — Error Residual: Gaussian distributed noise capturing market fluctuations.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WHY MULTIPLICATIVE SEASONALITY IS CRITICAL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Percentage vs. Fixed Rupee Discounts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Additive Model Flaw: Additive assumes discount is a fixed constant (e.g. ₹2,000 off). On a ₹10,000 phone that's 20%, but on a ₹100,000 laptop it's only 2%, causing severe prediction error.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Multiplicative Accuracy: Scales discounts proportionally with item price: y = Trend * (1 + Seasonality), correctly predicting 15-25% dips across all price tiers.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Bayesian Posterior Bounds: Generates empirical 80%-85% confidence intervals [yhat_lower, yhat_upper] preventing overconfident single-point predictions.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Positive Floor Filtering: Enforces strict proportional price boundaries (min floor at 40% of current price) to eliminate unrealistic negative anomalies.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DECISION MATRIX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The BUY NOW vs. WAIT Recommendation Engine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Translating probabilistic forecasts into unambiguous financial action.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FORMULA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Expected Savings Delta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Mathematical definition: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ΔP = (P_current - min(yhat_future)) / P_current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Evaluated across 7d, 15d, and 30d forecast horizons.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Accounts for lower confidence bound to prevent false recommendations.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THE THRESHOLD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The 3.0% Decision Rule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IF ΔP ≥ 3.0% ➔ VERDICT: WAIT (⏳)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Predicts upcoming price dip, optimal date, and expected rupee savings.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ELSE ➔ VERDICT: BUY NOW (🟢)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Confirms current market price is at or near 60-day historical lowest point.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MULTI-HORIZON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3 Outlook Windows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7-Day Outlook: Immediate short-term volatility and flash sales.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15-Day Outlook: Medium-term festival dip sweet-spot.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30-Day Outlook: Post-sale price rebound &amp; market stabilization.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DATA ENGINEERING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Multi-Store Scraper Rails &amp; Synthetic Hygiene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Resilient web harvesting with zero-lookahead synthetic historical alignment.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LIVE SCRAPING RAILS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Simultaneous 4-Store Harvesting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BeautifulSoup4 + Requests concurrent worker pool.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Targets Amazon India, Flipkart, Walmart, and eBay.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Dynamic User-Agent pool rotation &amp; randomized delays to avoid IP rate-limits.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Normalizes multi-currency prices (USD to INR conversion).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3-TIER RESILIENCY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Fault-Tolerant Hierarchy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Tier 1: Live Scraping (real-time store HTML parsing).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Tier 2: Seeded Benchmark Catalog (cached verified pricing for 124k items).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Tier 3: Long-tail fallback ensuring 100% search response rate without crashing.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ZERO-LEAKAGE SYNTHESIS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Backward-Aligned Seeding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Cold-start solution for newly indexed items without 365-day history.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Backward time array generation anchors the last historical date to today's live scraped price.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Prevents synthetic-to-live price disconnect and guarantees smooth ML model fitting.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EXPERIMENTAL BENCHMARKS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Model Evaluation &amp; Quantitative Accuracy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Rigorous 80/20 chronological validation against real-world retail price datasets.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128016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MAE</a:t>
            </a:r>
          </a:p>
          <a:p>
            <a:pPr algn="ctr">
              <a:defRPr sz="2200" b="1">
                <a:solidFill>
                  <a:srgbClr val="10B981"/>
                </a:solidFill>
              </a:defRPr>
            </a:pPr>
            <a:r>
              <a:t>₹3,019.19</a:t>
            </a:r>
          </a:p>
          <a:p>
            <a:pPr algn="ctr">
              <a:defRPr sz="1000">
                <a:solidFill>
                  <a:srgbClr val="F8FAFC"/>
                </a:solidFill>
              </a:defRPr>
            </a:pPr>
            <a:r>
              <a:t>🔻 -84.1% Error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468880" cy="128016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7373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RMSE</a:t>
            </a:r>
          </a:p>
          <a:p>
            <a:pPr algn="ctr">
              <a:defRPr sz="2200" b="1">
                <a:solidFill>
                  <a:srgbClr val="38BDF8"/>
                </a:solidFill>
              </a:defRPr>
            </a:pPr>
            <a:r>
              <a:t>₹3,655.19</a:t>
            </a:r>
          </a:p>
          <a:p>
            <a:pPr algn="ctr">
              <a:defRPr sz="1000">
                <a:solidFill>
                  <a:srgbClr val="F8FAFC"/>
                </a:solidFill>
              </a:defRPr>
            </a:pPr>
            <a:r>
              <a:t>🔻 -84.0% Variance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468880" cy="128016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MAPE</a:t>
            </a:r>
          </a:p>
          <a:p>
            <a:pPr algn="ctr">
              <a:defRPr sz="2200" b="1">
                <a:solidFill>
                  <a:srgbClr val="F59E0B"/>
                </a:solidFill>
              </a:defRPr>
            </a:pPr>
            <a:r>
              <a:t>10.08%</a:t>
            </a:r>
          </a:p>
          <a:p>
            <a:pPr algn="ctr">
              <a:defRPr sz="1000">
                <a:solidFill>
                  <a:srgbClr val="F8FAFC"/>
                </a:solidFill>
              </a:defRPr>
            </a:pPr>
            <a:r>
              <a:t>🔻 -23.2% Absolute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468880" cy="128016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17373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MODEL ACCURACY</a:t>
            </a:r>
          </a:p>
          <a:p>
            <a:pPr algn="ctr">
              <a:defRPr sz="2200" b="1">
                <a:solidFill>
                  <a:srgbClr val="10B981"/>
                </a:solidFill>
              </a:defRPr>
            </a:pPr>
            <a:r>
              <a:t>89.92%</a:t>
            </a:r>
          </a:p>
          <a:p>
            <a:pPr algn="ctr">
              <a:defRPr sz="1000">
                <a:solidFill>
                  <a:srgbClr val="F8FAFC"/>
                </a:solidFill>
              </a:defRPr>
            </a:pPr>
            <a:r>
              <a:t>🔥 +23.2% Lift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10698480" cy="320040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14400" y="3291840"/>
          <a:ext cx="103327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44"/>
                <a:gridCol w="2066544"/>
                <a:gridCol w="2066544"/>
                <a:gridCol w="2066544"/>
                <a:gridCol w="2066544"/>
              </a:tblGrid>
              <a:tr h="4724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Old Baseline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PriceSpy v3.2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Mean Absolute Error (MAE)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Average absolute rupee deviation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₹18,988.14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₹3,019.19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🔻 84.1% Reduction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Root Mean Squared Error (RMSE)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Penalty on extreme outlier mistakes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₹22,861.94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₹3,655.19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🔻 84.0% Variance Drop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Mean Abs Pct Error (MAPE)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Average percentage error relative to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33.28%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10.08%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🔻 23.2% Absolute Drop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Overall Benchmark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Percentage of accurate trend forecasts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66.72%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89.92%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🔥 +23.20% Accuracy Lift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Median Product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Typical accuracy experienced across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71.58%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95.18%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🔥 +23.60% Median Lift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USER INTERFACE WALKTHROUGH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The Command Center: Modern Landing Page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Editorial Deep Obsidian OLED interface (#07090E) with real-time telemetry HUD.</a:t>
            </a:r>
          </a:p>
        </p:txBody>
      </p:sp>
      <p:pic>
        <p:nvPicPr>
          <p:cNvPr id="4" name="Picture 3" descr="landing_page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645920"/>
            <a:ext cx="4297680" cy="466344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828800"/>
            <a:ext cx="3931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KEY INTERACTION DESIGN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Landing Page Architecture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Floating Glass Navbar: Features live green status badge confirming 'Prophet ML v3.2: Online' and seamless navigation routes.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Multi-Store Search Bar: Instant keyboard autocomplete with live connectivity indicator badges for Amazon, Flipkart, Walmart, and eBay.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4-Metric Telemetry HUD: Real-time metrics: 4 Active Scraping Rails, 124,582 Tracked Items, -21.4% Avg Festival Drop, 89.9% Model Accuracy.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Trending Deals Feed: Responsive frosted glass cards displaying verified live market discounts and 1-click comparison triggers.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USER INTERFACE WALKTHROUGH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Multi-Store Real-Time Arbitrage Comparator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Comparing price quotes across 4 platforms side-by-side with cheapest badge.</a:t>
            </a:r>
          </a:p>
        </p:txBody>
      </p:sp>
      <p:pic>
        <p:nvPicPr>
          <p:cNvPr id="4" name="Picture 3" descr="compare_page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645920"/>
            <a:ext cx="4297680" cy="466344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828800"/>
            <a:ext cx="3931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COMPARATOR CAPABILITIES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1-Click Price Arbitrage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Unified Product Summary: Aggregates specs, user ratings, and immediate potential savings across platforms.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Cheapest Platform Badge: Automatically flags lowest store with an emerald green badge (e.g. Flipkart @ ₹64,990 vs Amazon @ ₹67,990).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Live Store Cards: Displays live shipping estimates, seller ratings, and direct outward store links.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Track in Database Action: 1-Click action saves the product to the user's SQLite watchlist with target price drop monitoring.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USER INTERFACE WALKTHROUGH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30-Day Forecast &amp; Interactive Decision View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Recharts dual-line AreaChart with confidence ribbon and algorithmic verdict banner.</a:t>
            </a:r>
          </a:p>
        </p:txBody>
      </p:sp>
      <p:pic>
        <p:nvPicPr>
          <p:cNvPr id="4" name="Picture 3" descr="product_forecast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645920"/>
            <a:ext cx="4297680" cy="466344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828800"/>
            <a:ext cx="3931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PREDICTIVE INTELLIGENCE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Forecasting Screen Features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AI Recommendation Banner: Displays unequivocal advice: 'VERDICT: WAIT (-14% Drop Predicted on Oct 12 during festival sale)'.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Dual-Line AreaChart: Solid cyan line traces 90-day history; glowing dashed line illustrates 30-day Prophet forecast.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Shaded Uncertainty Ribbon: Empirical confidence intervals show upper &amp; lower projected bounds.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Multi-Horizon Cards: Explicit metrics for 7-day, 15-day, and 30-day horizon low points.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Target Price Alert Creator: Users can set a target budget to receive automated email notifications when reached.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USER INTERFACE WALKTHROUGH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System Administration &amp; Scraper Telemetry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Comprehensive backend health dashboard, scraper latency monitoring, and audit logs.</a:t>
            </a:r>
          </a:p>
        </p:txBody>
      </p:sp>
      <p:pic>
        <p:nvPicPr>
          <p:cNvPr id="4" name="Picture 3" descr="admin_dashboard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645920"/>
            <a:ext cx="4297680" cy="466344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828800"/>
            <a:ext cx="3931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SYSTEM OBSERVABILITY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Admin Telemetry HUD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System Vitals Bar: Tracks 124,582 monitored products, 99.4% scraper success rate, and 99.98% operational uptime.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ML Error HUD: Real-time display of active model accuracy metrics (MAPE: 10.08%, MAE: ₹3,019.19, RMSE: ₹3,655.19).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Scraper Pipeline Health: Monitors individual response latencies for Amazon, Flipkart, Walmart, and eBay (110ms-160ms average).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Live Event Log Stream: Real-time terminal console logging 24h cron forecast runs, database write commits, and alert notifications.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PROJECT ROADMAP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Future Scope &amp; Technical Scalability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Architectural roadmap to scale PriceSpy into an enterprise retail intelligence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66344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OMNICHANNEL ALERTS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WhatsApp &amp; Telegram Bots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Integrate Twilio / Telegram Bot API for instant push notifications directly to smartphone messengers.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Eliminates dependency on email delivery for flash sales lasting under 30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468880" cy="466344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BROWSER INTEGRATION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Chrome Browser Extension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Manifest V3 extension injecting live PriceSpy badges directly into Amazon and Flipkart product pages.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Displays real-time 'BUY NOW' or 'WAIT' badges without opening a separate tab.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468880" cy="466344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DEEP LEARNING ENSEMBLE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LSTM / Transformer Hybrid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Hybrid Prophet + LSTM / PatchTST deep neural network architecture.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Captures short-term micro-fluctuations and sentiment analysis from Twitter/Reddit deal forums.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468880" cy="4663440"/>
          </a:xfrm>
          <a:prstGeom prst="roundRect">
            <a:avLst/>
          </a:prstGeom>
          <a:solidFill>
            <a:srgbClr val="12182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CLOUD DISTRIBUTED SCALE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Celery &amp; PostgreSQL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Migrate from SQLite WAL to distributed PostgreSQL with TimescaleDB time-series extensions.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Asynchronous Celery worker queues with Redis broker for million-item catalog batch retraining.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0D121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48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PROJECT DEFENSE CONCLUSION</a:t>
            </a:r>
          </a:p>
          <a:p>
            <a:pPr algn="ctr">
              <a:defRPr sz="4600" b="1">
                <a:solidFill>
                  <a:srgbClr val="38BDF8"/>
                </a:solidFill>
              </a:defRPr>
            </a:pPr>
            <a:r>
              <a:t>Thank You!</a:t>
            </a:r>
          </a:p>
          <a:p>
            <a:pPr algn="ctr">
              <a:defRPr sz="1800" b="1">
                <a:solidFill>
                  <a:srgbClr val="F8FAFC"/>
                </a:solidFill>
              </a:defRPr>
            </a:pPr>
            <a:r>
              <a:t>PriceSpy: Leveling the E-Commerce Playing Field with Predictive Machine Learning</a:t>
            </a:r>
          </a:p>
          <a:p>
            <a:pPr algn="ctr">
              <a:defRPr sz="1300">
                <a:solidFill>
                  <a:srgbClr val="10B981"/>
                </a:solidFill>
              </a:defRPr>
            </a:pPr>
            <a:br/>
            <a:r>
              <a:t>✅ 89.92% Verified Model Accuracy (84.1% MAE Reduction)  •  ✅ 4-Store Simultaneous Arbitrage  •  ✅ 24/7 Autonomous Watchdog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br/>
            <a:r>
              <a:t>Anticipated Viva Defense Questions Prepared:</a:t>
            </a:r>
            <a:br/>
            <a:r>
              <a:t>1. Why Prophet over ARIMA/LSTM? (Prophet explicitly models festival calendar shocks without overfitting)</a:t>
            </a:r>
            <a:br/>
            <a:r>
              <a:t>2. How do you handle anti-scraping? (Rotating User-Agents, session exponential backoffs, 3-tier fallback)</a:t>
            </a:r>
            <a:br/>
            <a:r>
              <a:t>3. How is negative price prevented? (Proportional boundary floor clipping at 40% of baseline price)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br/>
            <a:r>
              <a:t>We invite questions, feedback, and are prepared for the live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